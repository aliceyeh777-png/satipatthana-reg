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台灣四念處學會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B49358"/>
                </a:solidFill>
              </a:rPr>
              <a:t>後台管理系統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8D5B0"/>
                </a:solidFill>
              </a:rPr>
              <a:t>後台操作員教學手冊  ·  Operator Training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v1.0  ·  2026-05-04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https://satipatthana-reg.vercel.app/admin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目錄 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01  系統概覽與登入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02  後台介面導覽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03  報名管理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04  錄取學員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05  食宿登記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06  快篩上傳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07  互動報名 / 互動作業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08  課程時間表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09  課前共修管理 / 打卡記錄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10  排程匯出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319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11  儀表板與資料匯出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12  常見情境與 FAQ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系統概覽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34747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95534"/>
                </a:solidFill>
              </a:rPr>
              <a:t>使用者瀏覽器
Operator 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011680"/>
            <a:ext cx="34747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331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95534"/>
                </a:solidFill>
              </a:rPr>
              <a:t>Vercel CDN / Edge
Next.js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011680"/>
            <a:ext cx="34747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331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495534"/>
                </a:solidFill>
              </a:rPr>
              <a:t>Supabase
資料庫 + 儲存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95534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95534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062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所有報名資料、審核記錄、食宿登記、打卡資訊，均透過 Vercel 部署的 Next.js API 寫入 Supabase 資料庫。
後台操作員透過 /admin 路徑進行所有管理作業，變更即時生效。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登入後台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開啟 https://satipatthana-reg.vercel.app/admin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輸入操作員帳號（Email）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輸入密碼，點擊「登入」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登入成功後自動跳轉至「報名管理」頁面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6217920" cy="822960"/>
          </a:xfrm>
          <a:prstGeom prst="rect">
            <a:avLst/>
          </a:prstGeom>
          <a:solidFill>
            <a:srgbClr val="FFF9EB"/>
          </a:solidFill>
          <a:ln w="15240">
            <a:solidFill>
              <a:srgbClr val="B49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776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E3A10"/>
                </a:solidFill>
              </a:rPr>
              <a:t>ℹ  帳號申請或重設密碼請聯絡系統管理員  [請填入聯絡方式]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/admin（登入畫面）]
實際畫面請替換此處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後台介面導覽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① 頂部導覽列：顯示目前模組 tabs，點擊切換功能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② 禪修形式切換：右上角「實體 / 線上」按鈕，切換後所有資料跟著篩選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603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③ 匯出按鈕：「↓ 匯出」立即下載 ZIP（含兩份 xlsx）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004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④ 排程匯出：設定定期自動寄送 Excel 報表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⑤ 主內容區：依所選 tab 顯示對應的管理介面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805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⑥ 登出按鈕：點擊「登出」結束操作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5029200" cy="530352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383279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/admin/dashboard（後台主頁）]
實際畫面請替換此處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1  ·  報名管理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顯示所有報名者清單，可依狀態篩選、搜尋、寄送錄取通知信。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操作員透過此頁進行報名審核與通知作業。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審核新進報名資料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批次寄送錄取/未錄取通知信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查詢特定學員報名狀態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切換實體/線上報名清單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1  ·  報名管理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點擊右上角「實體」或「線上」選擇顯示類型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在搜尋框輸入姓名或 Email 篩選學員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勾選要操作的學員，或點擊單筆進入詳情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點擊「審核通過」或「未錄取」更新狀態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6.  勾選已錄取學員，點擊「寄送錄取通知信」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7.  確認信件寄出成功提示（頁面頂端出現綠色提示）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/admin/dashboard]
實際畫面請替換此處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1  ·  報名管理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可多選批次寄信，節省時間
• 搜尋支援中文姓名、Email、報名序號
• 切換實體/線上前，先確認目前在哪個模式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寄出通知信後無法收回，寄前請確認審核狀態正確
• 刪除報名資料不可復原，操作前請再次確認
• 批次寄信前確認全部勾選的狀態均為「已錄取」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2  ·  錄取學員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/admin/lodgings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管理已錄取學員名單，可編輯學號、繳費方案、查看付款狀態。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核發學號與追蹤繳費進度是課程開始前的必要流程。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編輯或指派學號（R-001 格式）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確認學員繳費方案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標記繳費已驗證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查看實體/線上錄取人數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/admin/lodgings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2  ·  錄取學員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/admin/lodgings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/admin/lodgings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找到目標學員（可搜尋姓名或序號）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點擊學員列的「編輯」按鈕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填入學號（格式：R-001）並選擇繳費方案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確認繳費狀態，點擊「已確認」更新為已驗證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6.  點擊「儲存」，頁面頂端顯示「已儲存」即成功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/admin/lodgings]
實際畫面請替換此處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2  ·  錄取學員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/admin/lodgings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學號建議依報名序號順序編排，方便後續查找
• 繳費確認後系統會記錄確認時間，留存紀錄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學號一旦指派並寄出通知，更改前請先知會學員
• 繳費狀態設為「已驗證」後學員的食宿登記才會解鎖完整功能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3  ·  食宿登記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查看所有實體學員的食宿登記表，包含交通、飲食、緊急聯絡人、證件上傳。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飯店及交通安排需依此資料彙整名單。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核對學員食宿資料是否填寫完整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查看交通選擇（自行/台北專車/烏日專車）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確認飲食需求（葷/素、過午不食）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查看上傳的證件照片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/admin/documents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3  ·  食宿登記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在列表中找到目標學員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點擊學員列展開詳情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確認各欄位是否填寫完整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點擊證件欄位的連結預覽上傳照片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6.  如有缺漏，聯絡學員補填（學員可修改 1 次）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/admin/documents]
實際畫面請替換此處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3  ·  食宿登記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此頁僅供查看，學員修改須由學員本人登入操作
• 交通選擇影響接駁車安排，請特別確認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學員送出後只能再修改 1 次，請提醒學員填寫完整再送出
• 此模組僅在「實體」模式下顯示，線上學員無此需求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4  ·  快篩上傳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/admin/quicktests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管理實體學員的快篩照片上傳進度（8/17 及 8/19 兩次）。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課程規定學員須於指定時間上傳快篩結果，管理員需追蹤進度。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確認學員已上傳快篩照片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查看上傳時間是否在截止時間內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聯絡未上傳的學員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/admin/quicktests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4  ·  快篩上傳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/admin/quicktests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/admin/quicktests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查看列表中各學員的上傳狀態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點擊已上傳的圖示確認照片內容（日期、姓名、序號是否齊全）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對未上傳的學員進行追蹤聯絡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/admin/quicktests]
實際畫面請替換此處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4  ·  快篩上傳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/admin/quicktests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截止時間：8/17 晚上 8 點、8/19 中午 12 點
• 快篩照片須包含日期、報名序號、姓名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8/20 及 8/22 快篩現場繳交，不需線上上傳
• 此模組僅在「實體」模式下顯示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5  ·  互動報名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管理實體學員的互動報名抽籤，包含集體互動與分組互動的分配及序號編排。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互動課程需提前依抽籤結果分配老師、場次與序號。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開放/關閉學員互動報名入口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執行抽籤並分配結果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設定集體/分組互動序號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寄送中簽通知信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/admin/interactive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5  ·  互動報名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/admin/interactive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確認學員已送出報名後，點擊「開始抽籤」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系統自動分配，可手動調整個別學員的狀態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為中簽學員填入「集體序號」（-1 ~ 70）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選擇分組老師與互動日期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6.  確認無誤後，勾選中簽學員，點擊「寄送通知信」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/admin/interactive]
實際畫面請替換此處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5  ·  互動報名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/admin/interactive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序號 -1 表示備取，0 以上為正式序號
• 可先預覽抽籤結果再正式寄信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中簽通知信寄出後不可收回，寄前務必核對分配結果
• 此模組僅在「實體」模式下顯示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6  ·  互動作業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/admin/interactive-tasks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查看中簽學員填寫的課前互動作業內容（課前問題、修習背景等）。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老師於上課前需了解學員的問題與修習程度。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課程開始前彙整學員作業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篩選查看特定老師的學員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匯出作業內容給老師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/admin/interactive-tasks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6  ·  互動作業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/admin/interactive-tasks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/admin/interactive-tasks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依老師或場次篩選學員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點擊學員展開查看作業內容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透過「↓ 匯出」功能下載 Excel，內含「互動作業」sheet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/admin/interactive-tasks]
實際畫面請替換此處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6  ·  互動作業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/admin/interactive-tasks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匯出的 Excel 可直接提供給老師
• 課前作業截止時間為課程開始前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未中簽學員不需填寫作業，此頁不會顯示他們
• 此模組僅在「實體」模式下顯示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7  ·  課程時間表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/admin/timetable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查看五日禪修課程的完整時程安排。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操作員需掌握課程節奏，協助學員問詢與協調現場作業。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學員詢問課程時間時查閱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現場協調時參考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確認課程時段安排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/admin/timetable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7  ·  課程時間表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/admin/timetable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/admin/timetable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瀏覽每日課程時段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如需提供給學員，截圖或轉達相關資訊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/admin/timetable]
實際畫面請替換此處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7  ·  課程時間表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/admin/timetable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此頁學員專區也可查看，可引導學員自行登入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時程如有更改，需由技術人員更新程式碼，請聯絡開發團隊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8  ·  設課前共修表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設定課前共修的課表項目、Zoom 會議資訊與啟用狀態。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課前共修開始前需設定好課表，讓學員在專區看到正確資訊。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新增/編輯課表項目（日期、時間、課程名稱）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填入或更新 Zoom 會議號與密碼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為課程項目加入影片連結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啟用或停用課前共修功能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/admin/practice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8  ·  設課前共修表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「Zoom / 全域設定」區點擊「編輯」，填入會議號與密碼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確認「啟用課前共修」已勾選，點擊「儲存」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在課表項目區點擊特定項目的「編輯」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填入課程名稱、副標題、影片連結（有影片才填）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6.  點擊「儲存」，頁面顯示「已儲存」即成功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/admin/practice]
實際畫面請替換此處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8  ·  設課前共修表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影片連結填入後，學員頁的課程名稱會自動變成可點擊連結
• 停用某項目可取消「啟用」勾選，不需刪除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Zoom 資訊更改後，錄取通知信已寄出的學員需另行通知
• 刪除課表項目會一併刪除該項目的所有打卡記錄，不可復原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9  ·  共修打卡記錄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/admin/practice-records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總覽所有錄取學員的課前共修打卡進度。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確認學員參與課前共修狀況，必要時可提醒未打卡的學員。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共修進行中查看打卡進度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共修結束後確認全勤名單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搜尋特定學員的打卡狀態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/admin/practice-records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9  ·  共修打卡記錄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/admin/practice-records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/admin/practice-records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切換「實體」或「線上」查看對應學員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在搜尋框輸入姓名、序號或學號快速找到學員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橫向對照每堂課的打卡狀態（✓ 表示已打卡）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最右欄「打卡數/總項目」查看整體進度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/admin/practice-records]
實際畫面請替換此處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9  ·  共修打卡記錄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/admin/practice-records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全勤學員整列底色會加深標示，方便一眼識別
• 打卡記錄由學員自行勾選，操作員無法代替打卡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此頁為唯讀，不能修改打卡記錄
• 學員需登入學員專區才能打卡，無法在後台代操作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10  ·  排程匯出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此模組是什麼？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設定定期自動匯出報名彙整 Excel 並寄送至指定 Email。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為什麼需要它？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減少人工重複匯出作業，確保關鍵人員定期收到最新資料。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95534"/>
                </a:solidFill>
              </a:rPr>
              <a:t>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設定每日/每週自動寄送報表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新增或修改收件人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啟用或停用排程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5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立即觸發一次手動匯出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對應路徑：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95534"/>
                </a:solidFill>
              </a:rPr>
              <a:t>/admin/schedules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10  ·  排程匯出  —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/admin/schedules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 /admin/schedules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點擊「新增排程」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設定排程時間（台北時區）與收件人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點擊「儲存」啟用排程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如需立即匯出，點擊頂部導覽列的「↓ 匯出」按鈕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6.  下載的 ZIP 內含實體版與線上版兩份 xlsx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097280"/>
            <a:ext cx="50292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/admin/schedules]
實際畫面請替換此處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模組 10  ·  排程匯出  — 提示與注意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5B0"/>
                </a:solidFill>
              </a:rPr>
              <a:t>/admin/schedules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228600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</a:rPr>
              <a:t>✓  操作提示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「↓ 匯出」隨時可用，不影響排程設定
• 匯出 Excel 內含：全部報名、各狀態分頁、食宿登記、互動報名、互動作業、課前共修打卡共多個 sheet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11640312" cy="2286000"/>
          </a:xfrm>
          <a:prstGeom prst="rect">
            <a:avLst/>
          </a:prstGeom>
          <a:solidFill>
            <a:srgbClr val="FFF5F5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⚠  注意事項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收件人 Email 填錯將導致報表寄失，請仔細確認
• 排程時間為 UTC，系統顯示為台北時間，請確認時區轉換正確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儀表板與資料匯出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儀表板  ·  關鍵數字總覽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95534"/>
                </a:solidFill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</a:rPr>
              <a:t>報名總人數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實體 + 線上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95534"/>
                </a:solidFill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</a:rPr>
              <a:t>已錄取學員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已審核通過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539496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95534"/>
                </a:solidFill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</a:rPr>
              <a:t>繳費確認數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payment_status = verified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39496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95534"/>
                </a:solidFill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</a:rPr>
              <a:t>食宿登記完成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lodging 表單已送出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儀表板  ·  如何看報表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943600" cy="5029200"/>
          </a:xfrm>
          <a:prstGeom prst="rect">
            <a:avLst/>
          </a:prstGeom>
          <a:solidFill>
            <a:srgbClr val="F3F4F6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3375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95534"/>
                </a:solidFill>
              </a:rPr>
              <a:t>[截圖: /admin/dashboard（報名狀態長條圖）]
實際畫面請替換此處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X 軸：報名狀態（待審核 / 已錄取 / 未錄取）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385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Y 軸：人數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9689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正常：已錄取應占多數，待審核趨近 0 表示作業完成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55263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何時警覺：待審核人數長時間不降，請確認審核流程是否卡住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91363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顏色：實體（深綠）/ 線上（金色）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資料匯出  ·  操作步驟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點擊頂部導覽列的「↓ 匯出」按鈕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瀏覽器自動下載 ZIP 壓縮檔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解壓縮後得到兩份 xlsx：
    registrations_inperson_日期.xlsx（實體）
    registrations_online_日期.xlsx（線上）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6616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每份 xlsx 包含多個工作表：全部報名、各審核狀態、食宿登記、
    互動報名、互動作業、課前共修打卡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434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如需定期自動寄送，至「排程匯出」設定排程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常見操作情境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9358"/>
                </a:solidFill>
              </a:rPr>
              <a:t>熟悉以下情境，即可處理 80% 的日常後台工作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情境 1：新報名進來，如何完成錄取到通知流程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觸發時機：每次報名截止後，需要審核並通知學員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3200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處理步驟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前往「報名管理」，篩選「待審核」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逐一或批次點擊「審核通過」或「未錄取」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前往「錄取學員」，為通過的學員編排學號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回到「報名管理」，勾選已錄取學員，點擊「寄送錄取通知信」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確認信件含繳費、食宿、快篩、互動報名等連結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情境 2：學員詢問繳費狀態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觸發時機：學員 Email 或電話詢問付款是否被確認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3200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處理步驟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前往「報名管理」搜尋學員姓名或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查看「繳費狀態」欄位（未繳費 / 待確認 / 已確認）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若為「待確認」，前往「錄取學員」查看備註欄位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確認無誤後點擊「已確認」更新狀態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告知學員繳費已確認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情境 3：學員回報食宿登記無法修改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觸發時機：學員說改不了食宿表單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3200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處理步驟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前往「食宿登記」找到該學員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查看「更新時間」欄位，確認是否已修改過 1 次（即鎖定）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若已鎖定：告知學員送出次數已用完，如有特殊需求請聯絡主辦單位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若未鎖定：確認學員是否使用正確的登入連結（Email + 專屬碼）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情境 4：匯出報表給老師或合作單位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觸發時機：需要提供學員名單給老師、飯店或接駁車廠商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3200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處理步驟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點擊頂部「↓ 匯出」下載最新 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解壓縮，依需求開啟對應 sheet（食宿登記、全部報名等）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必要時複製特定欄位另存新檔再提供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情境 5：課前共修開始，如何讓學員看到課表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觸發時機：課前共修期間開始，學員需要看到 Zoom 資訊與課表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45920"/>
            <a:ext cx="11640312" cy="3200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處理步驟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1.  前往「設課前共修表」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2.  確認所有課表項目已填寫完整（日期、時間、標題）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3.  填入 Zoom 會議號與密碼，點擊「儲存」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4.  確認「啟用課前共修」已勾選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</a:rPr>
              <a:t>5.  通知學員登入學員專區 → 課前共修 查看並打卡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常見問題 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Q：登入後看不到某個 tab？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A：確認頂部「實體 / 線上」模式，食宿登記、快篩、互動相關 tab 僅在「實體」模式顯示。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Q：寄出通知信後才發現審核狀態填錯怎麼辦？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7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A：目前無法召回已寄出的 Email，請直接聯絡學員說明，並在後台修正狀態。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Q：匯出的 Excel 打開是亂碼？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7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A：請用 Excel 開啟時選擇 UTF-8 編碼，或直接用 Google Sheets 開啟。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Q：打卡記錄可以幫學員補打嗎？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A：後台無法代替學員打卡，需由學員本人登入學員專區操作。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Q：如何確認排程匯出是否正常運作？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12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A：前往「排程匯出」查看「上次執行時間」與是否有錯誤訊息。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Q：忘記操作員密碼怎麼辦？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A：聯絡系統管理員重設密碼。[請填入管理員聯絡方式]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聯絡支援  &amp;  問題回報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一線操作問題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4475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[請填入聯絡姓名 / Email / LINE]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14300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技術支援 / 系統錯誤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505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[請填入開發人員聯絡方式]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114300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緊急情況處理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4564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[請填入緊急聯絡流程，例如：致電 XXXX 或傳訊 LINE ID]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389120"/>
            <a:ext cx="114300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495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62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95534"/>
                </a:solidFill>
              </a:rPr>
              <a:t>後台網址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6227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https://satipatthana-reg.vercel.app/admin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495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謝謝！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49358"/>
                </a:solidFill>
              </a:rPr>
              <a:t>台灣四念處學會 後台管理系統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5B0"/>
                </a:solidFill>
              </a:rPr>
              <a:t>歡迎隨時提問，操作愉快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